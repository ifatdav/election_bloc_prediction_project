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C5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813048" y="502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פרויקט אמצע — מדעי הנתונים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541264" y="1078992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870448" y="1078992"/>
            <a:ext cx="201168" cy="201168"/>
          </a:xfrm>
          <a:prstGeom prst="ellipse">
            <a:avLst/>
          </a:prstGeom>
          <a:solidFill>
            <a:srgbClr val="178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199632" y="1078992"/>
            <a:ext cx="201168" cy="201168"/>
          </a:xfrm>
          <a:prstGeom prst="ellipse">
            <a:avLst/>
          </a:prstGeom>
          <a:solidFill>
            <a:srgbClr val="C26B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528816" y="1078992"/>
            <a:ext cx="201168" cy="20116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1463040"/>
            <a:ext cx="107259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חיזוי הצבעה לפי גושים ביישובי ישראל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280160" y="2423160"/>
            <a:ext cx="9628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כמה מהמפה הפוליטית מוסבר על-ידי מי שגר בה?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280160" y="3200400"/>
            <a:ext cx="9628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מידול חלוקת הקולות בין ארבעה גושים פוליטיים, יישוב-יישוב — מדמוגרפיה בלבד, בלי שום מידע פוליטי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280160" y="4069080"/>
            <a:ext cx="9628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226 יישובים   ·   5 מערכות בחירות (2019–2022)   ·   82% מהקולות הארציים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743200" y="5257800"/>
            <a:ext cx="6702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יפעת דוידסון   ·   רועי בודניצקי   ·   יובל רובנצ'וק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48640" y="201168"/>
            <a:ext cx="11091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רקע וצרכים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51206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תחזיות ארציות מסתירות את הסיפור המקומי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309360" y="1417320"/>
            <a:ext cx="53035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סקרים ותחזיות מדברים ברמה ארצית אגרגטיבית, הבדלים קיימים  ברמה המקומית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2A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למי זה שווה ערך: מטות קמפיין (הקצאת משאבי שטח), תקשורת, חוקרים, רשויות מקומיות, מדיה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2A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והעובדה שמאפשרת בכלל לשאול את השאלה: ההפרדה הגיאוגרפית-התנהגותית של הפוליטיקה הישראלית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" y="137160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31520" y="1444752"/>
            <a:ext cx="5029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49808" y="2194560"/>
            <a:ext cx="4992624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מהיישובים — הגוש הערבי מתחת ל-5%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288036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1520" y="2953512"/>
            <a:ext cx="5029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27%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49808" y="3703320"/>
            <a:ext cx="4992624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מהיישובים — הגוש הערבי מעל 70%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438912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31520" y="4462272"/>
            <a:ext cx="5029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7%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49808" y="5212080"/>
            <a:ext cx="4992624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בלבד באמצע — כמעט אין יישוב מעורב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309360" y="4983480"/>
            <a:ext cx="5303520" cy="777240"/>
          </a:xfrm>
          <a:prstGeom prst="roundRect">
            <a:avLst>
              <a:gd fmla="val 9412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92240" y="49834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A24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23A24"/>
                </a:solidFill>
                <a:latin typeface="Calibri"/>
                <a:ea typeface="Calibri"/>
                <a:cs typeface="Calibri"/>
                <a:sym typeface="Calibri"/>
              </a:rPr>
              <a:t>גיאוגרפיה ~ דמוגרפיה ~ פוליטיקה?</a:t>
            </a:r>
            <a:endParaRPr b="1" i="0" sz="1550" u="none" cap="none" strike="noStrike">
              <a:solidFill>
                <a:srgbClr val="123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A24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23A24"/>
                </a:solidFill>
                <a:latin typeface="Calibri"/>
                <a:ea typeface="Calibri"/>
                <a:cs typeface="Calibri"/>
                <a:sym typeface="Calibri"/>
              </a:rPr>
              <a:t>זה מה שהמערכת שלנו הולכת למדוד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548640" y="201168"/>
            <a:ext cx="11091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הפתרון שבנינו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51206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ארבעה מספרים לכל יישוב, שמסתכמים במאה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309360" y="1417320"/>
            <a:ext cx="53035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קלט: נתוני למ"ס וביטוח לאומי פומביים -חינוך, שכר, אבטלה, הרכב אוכלוסיה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2A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הקלאסים מוגדרים קואליציונית, לא אידיאולוגית (ליברמן שויך מרכז שמאל)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2A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הפלט הוא חיזוי של תוצאות ההצבעה בין ארבעה גושים: מרכז-שמאל, ימין, חרדים, ערבים. סה"כ 100%.</a:t>
            </a:r>
            <a:endParaRPr b="0" i="0" sz="1500" u="none" cap="none" strike="noStrike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2A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מכסה 226 יישובים. 82% מהקולות.</a:t>
            </a:r>
            <a:endParaRPr b="0" i="0" sz="1500" u="none" cap="none" strike="noStrike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2A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מה שהמודל מודד: איך יישוב "גנרי" עם הדמוגרפיה הזו היה מצביע במערכת בחירות "גנרית" ההסבר הדמוגרפי הטהור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2A37"/>
              </a:buClr>
              <a:buSzPts val="1500"/>
              <a:buFont typeface="Calibri"/>
              <a:buChar char="•"/>
            </a:pPr>
            <a:r>
              <a:rPr b="1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המסגור: התחזית היא כלי המדידה, לא מכונת ניבוי בחירות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40080" y="1554480"/>
            <a:ext cx="5212080" cy="914400"/>
          </a:xfrm>
          <a:prstGeom prst="roundRect">
            <a:avLst>
              <a:gd fmla="val 8000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22960" y="155448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דמוגרפיה בלבד:  גיל · השכלה · שכר · קצבאות · צפיפות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017520" y="251460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72584" y="3017520"/>
            <a:ext cx="1207008" cy="685800"/>
          </a:xfrm>
          <a:prstGeom prst="roundRect">
            <a:avLst>
              <a:gd fmla="val 13333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72584" y="3017520"/>
            <a:ext cx="120700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ימין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328416" y="3017520"/>
            <a:ext cx="1207008" cy="685800"/>
          </a:xfrm>
          <a:prstGeom prst="roundRect">
            <a:avLst>
              <a:gd fmla="val 13333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328416" y="3017520"/>
            <a:ext cx="120700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מרכז-שמאל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984248" y="3017520"/>
            <a:ext cx="1207008" cy="685800"/>
          </a:xfrm>
          <a:prstGeom prst="roundRect">
            <a:avLst>
              <a:gd fmla="val 13333" name="adj"/>
            </a:avLst>
          </a:prstGeom>
          <a:solidFill>
            <a:srgbClr val="178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984248" y="3017520"/>
            <a:ext cx="120700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חרדים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40080" y="3017520"/>
            <a:ext cx="1207008" cy="685800"/>
          </a:xfrm>
          <a:prstGeom prst="roundRect">
            <a:avLst>
              <a:gd fmla="val 13333" name="adj"/>
            </a:avLst>
          </a:prstGeom>
          <a:solidFill>
            <a:srgbClr val="C26B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3017520"/>
            <a:ext cx="120700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ערבים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011680" y="3931920"/>
            <a:ext cx="2468880" cy="548640"/>
          </a:xfrm>
          <a:prstGeom prst="roundRect">
            <a:avLst>
              <a:gd fmla="val 50000" name="adj"/>
            </a:avLst>
          </a:prstGeom>
          <a:solidFill>
            <a:srgbClr val="122C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011680" y="39319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 = 100%  תמיד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4754880"/>
            <a:ext cx="52120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31520" y="4828032"/>
            <a:ext cx="5029200" cy="678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226 = 82%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49808" y="5495544"/>
            <a:ext cx="4992624" cy="46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היישובים עם פרופיל למ"ס = 82% מהקולות הארציים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548640" y="201168"/>
            <a:ext cx="11091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תרשים תהליך High-Level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51206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ארבעה שלבים והחלטה חכמה אחת בכל שלב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9564624" y="1371600"/>
            <a:ext cx="2048256" cy="960120"/>
          </a:xfrm>
          <a:prstGeom prst="roundRect">
            <a:avLst>
              <a:gd fmla="val 7619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619488" y="1371600"/>
            <a:ext cx="1938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6 מקורות נתונים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(בחירות · למ"ס · ביטוח לאומי)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345168" y="1572768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324344" y="1371600"/>
            <a:ext cx="2048256" cy="960120"/>
          </a:xfrm>
          <a:prstGeom prst="roundRect">
            <a:avLst>
              <a:gd fmla="val 7619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379208" y="1371600"/>
            <a:ext cx="1938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מיזוג ובניית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4 יעדי הגושים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7104888" y="1572768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084064" y="1371600"/>
            <a:ext cx="2048256" cy="960120"/>
          </a:xfrm>
          <a:prstGeom prst="roundRect">
            <a:avLst>
              <a:gd fmla="val 7619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138928" y="1371600"/>
            <a:ext cx="1938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ניקוי, טיפול בחוסרים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ובחירת 28 פיצ'רים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864608" y="1572768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843784" y="1371600"/>
            <a:ext cx="2048256" cy="960120"/>
          </a:xfrm>
          <a:prstGeom prst="roundRect">
            <a:avLst>
              <a:gd fmla="val 7619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898648" y="1371600"/>
            <a:ext cx="1938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מודל מפוצל: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Segmented CLR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624328" y="1572768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03504" y="1371600"/>
            <a:ext cx="2048256" cy="960120"/>
          </a:xfrm>
          <a:prstGeom prst="roundRect">
            <a:avLst>
              <a:gd fmla="val 7619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58368" y="1371600"/>
            <a:ext cx="1938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תחזית: 4 חלקי-גוש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= 100% תמיד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2606040"/>
            <a:ext cx="110916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מאחורי הקלעים של שלב המידול — תשע ארכיטקטורות בסולם, וסיפור בשלוש פעימות: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955280" y="310896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1082528" y="3255264"/>
            <a:ext cx="384048" cy="384048"/>
          </a:xfrm>
          <a:prstGeom prst="ellipse">
            <a:avLst/>
          </a:prstGeom>
          <a:solidFill>
            <a:srgbClr val="122C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1082528" y="3236976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101584" y="3255264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הבעיה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101584" y="3703320"/>
            <a:ext cx="33649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היעדים הם קומפוזיציה. רגרסיה רגילה מסוגלת לחזות ‏‎−3%‎ חרדים או סכום של 108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242816" y="310896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FFF6E8"/>
          </a:solidFill>
          <a:ln cap="flat" cmpd="sng" w="12700">
            <a:solidFill>
              <a:srgbClr val="C26B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370064" y="3255264"/>
            <a:ext cx="384048" cy="384048"/>
          </a:xfrm>
          <a:prstGeom prst="ellipse">
            <a:avLst/>
          </a:prstGeom>
          <a:solidFill>
            <a:srgbClr val="C26B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370064" y="3236976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389120" y="3255264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6B0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26B09"/>
                </a:solidFill>
                <a:latin typeface="Calibri"/>
                <a:ea typeface="Calibri"/>
                <a:cs typeface="Calibri"/>
                <a:sym typeface="Calibri"/>
              </a:rPr>
              <a:t>ההפתעה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389120" y="3703320"/>
            <a:ext cx="33649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CLR (לוג-יחסים): האילוץ מובנה - אבל לבדו זה דווקא הזיק! הלוג מנפח את הכמעט-אפסים ביישובים מעורבים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30352" y="310896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657600" y="3255264"/>
            <a:ext cx="384048" cy="384048"/>
          </a:xfrm>
          <a:prstGeom prst="ellipse">
            <a:avLst/>
          </a:prstGeom>
          <a:solidFill>
            <a:srgbClr val="178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657600" y="3236976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76656" y="3255264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8A4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78A4C"/>
                </a:solidFill>
                <a:latin typeface="Calibri"/>
                <a:ea typeface="Calibri"/>
                <a:cs typeface="Calibri"/>
                <a:sym typeface="Calibri"/>
              </a:rPr>
              <a:t>הפתרון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76656" y="3703320"/>
            <a:ext cx="33649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פיצול לשני מודלים - יישובים ערביים / כל השאר - כל אחד רואה אוכלוסייה הומוגנית, וה-CLR פורח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fmla="val 10000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77240" y="5349240"/>
            <a:ext cx="10634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A24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23A24"/>
                </a:solidFill>
                <a:latin typeface="Calibri"/>
                <a:ea typeface="Calibri"/>
                <a:cs typeface="Calibri"/>
                <a:sym typeface="Calibri"/>
              </a:rPr>
              <a:t>הלקח: הטרנספורמציה הנכונה זקוקה לסגמנטציה הנכונה - וזה מה שהכריע את תחרות תשע הארכיטקטורות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אנלוגיה למכירי רשתות: CLR + היפוך = בדיוק 4 נוירוני פלט + softmax בעולם העצים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548640" y="201168"/>
            <a:ext cx="11091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דרישות - מה צריך כדי להפעיל את זה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51206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זול, פומבי, שחזיר ועמיד גם כשהדאטה נשבר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94360" y="1371600"/>
            <a:ext cx="4114800" cy="548640"/>
          </a:xfrm>
          <a:prstGeom prst="roundRect">
            <a:avLst>
              <a:gd fmla="val 1333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31520" y="13716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Python ≥ 3.11 · גרסאות נעוצות · seed קבוע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94360" y="2029968"/>
            <a:ext cx="4114800" cy="548640"/>
          </a:xfrm>
          <a:prstGeom prst="roundRect">
            <a:avLst>
              <a:gd fmla="val 1333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31520" y="202996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נתונים פומביים בלבד - אפס עלות דאטה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94360" y="2688336"/>
            <a:ext cx="4114800" cy="548640"/>
          </a:xfrm>
          <a:prstGeom prst="roundRect">
            <a:avLst>
              <a:gd fmla="val 1333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31520" y="268833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ריצה מלאה בדקות, על לפטופ רגיל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94360" y="3346704"/>
            <a:ext cx="4114800" cy="548640"/>
          </a:xfrm>
          <a:prstGeom prst="roundRect">
            <a:avLst>
              <a:gd fmla="val 1333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31520" y="3346704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clone &gt; install &gt; run - נתיבים יחסיים, אפס קונפיגורציה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94360" y="4114800"/>
            <a:ext cx="411480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85800" y="4187952"/>
            <a:ext cx="393192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6B09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C26B09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04088" y="5266944"/>
            <a:ext cx="3895344" cy="729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מהיישובים הערביים חסרים את הפיצ'ר הדומיננטי (עולי 1990+) בקובץ הלמ"ס של 2022 -והצינור שרד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937760" y="13716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מבחן העמידות שקרה באמת שבר הדאטה של 2022: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937760" y="1828800"/>
            <a:ext cx="6675120" cy="1078992"/>
          </a:xfrm>
          <a:prstGeom prst="roundRect">
            <a:avLst>
              <a:gd fmla="val 6780" name="adj"/>
            </a:avLst>
          </a:prstGeom>
          <a:solidFill>
            <a:srgbClr val="FFF6E8"/>
          </a:solidFill>
          <a:ln cap="flat" cmpd="sng" w="12700">
            <a:solidFill>
              <a:srgbClr val="C26B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1265408" y="1947672"/>
            <a:ext cx="384048" cy="384048"/>
          </a:xfrm>
          <a:prstGeom prst="ellipse">
            <a:avLst/>
          </a:prstGeom>
          <a:solidFill>
            <a:srgbClr val="C26B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1265408" y="1929384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120640" y="1874520"/>
            <a:ext cx="60350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מילוי חוסרים רגיל (חציון רוחבי) השתיל ביישובים ערביים ערך "יהודי טיפוסי" והמודל ניבא להם דפוס הצבעה יהודי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937760" y="3035808"/>
            <a:ext cx="6675120" cy="1078992"/>
          </a:xfrm>
          <a:prstGeom prst="roundRect">
            <a:avLst>
              <a:gd fmla="val 6780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1265408" y="3154680"/>
            <a:ext cx="384048" cy="384048"/>
          </a:xfrm>
          <a:prstGeom prst="ellipse">
            <a:avLst/>
          </a:prstGeom>
          <a:solidFill>
            <a:srgbClr val="178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1265408" y="3136392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120640" y="3081528"/>
            <a:ext cx="60350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LOCF סלקטיבי (החידוש שלנו): יישוב יורש ערך חסר מהעבר של עצמו עד שנתיים אחורה, עבר-לעתיד בלבד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937760" y="4242816"/>
            <a:ext cx="6675120" cy="1078992"/>
          </a:xfrm>
          <a:prstGeom prst="roundRect">
            <a:avLst>
              <a:gd fmla="val 6780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1265408" y="4361688"/>
            <a:ext cx="384048" cy="384048"/>
          </a:xfrm>
          <a:prstGeom prst="ellipse">
            <a:avLst/>
          </a:prstGeom>
          <a:solidFill>
            <a:srgbClr val="178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1265408" y="4343400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120640" y="4288536"/>
            <a:ext cx="60350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והסלקטיביות: רק פיצ'רים שהוכיחו יציבות שנתית על האימון (r ≥ 0.9). ערך אמיתי של אותו יישוב עדיף על ממוצע של אחרים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937760" y="5486400"/>
            <a:ext cx="6675120" cy="1005840"/>
          </a:xfrm>
          <a:prstGeom prst="roundRect">
            <a:avLst>
              <a:gd fmla="val 727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120640" y="5541264"/>
            <a:ext cx="63093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מבחן ההיגיון:  </a:t>
            </a: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דמיינו למלא אבטלת 2021 מנתוני הקורונה של 2020 קפיצה של פי 5. המסנן שלנו באמת פסל את הפיצ'ר הזה. וכל השרשרת נלמדת על האימון בלבד — אפס דליפה.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548640" y="201168"/>
            <a:ext cx="11091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התוצאות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51206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‎±4.2 נקודות לגוש והגילוי ששינה את הסיפור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532120" y="1371600"/>
            <a:ext cx="6080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טסט אמיתי: כנסת 25 בקופסה סגורה כל ההחלטות על כנסת 21–24, מדידה אחת בסוף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9646920" y="2011680"/>
            <a:ext cx="19659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9738360" y="2084832"/>
            <a:ext cx="17830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4.21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756648" y="2834640"/>
            <a:ext cx="1746504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MAE נקודות אחוז לגוש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589520" y="2011680"/>
            <a:ext cx="19659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680960" y="2084832"/>
            <a:ext cx="17830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0.916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699248" y="2834640"/>
            <a:ext cx="1746504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R² מהשונות מוסברת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532120" y="2011680"/>
            <a:ext cx="19659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623560" y="2084832"/>
            <a:ext cx="17830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2.72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641848" y="2834640"/>
            <a:ext cx="1746504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MAE משוקלל-קולות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532120" y="3611880"/>
            <a:ext cx="6080760" cy="1051560"/>
          </a:xfrm>
          <a:prstGeom prst="roundRect">
            <a:avLst>
              <a:gd fmla="val 6957" name="adj"/>
            </a:avLst>
          </a:prstGeom>
          <a:solidFill>
            <a:srgbClr val="FFF6E8"/>
          </a:solidFill>
          <a:ln cap="flat" cmpd="sng" w="12700">
            <a:solidFill>
              <a:srgbClr val="C26B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715000" y="3666744"/>
            <a:ext cx="57150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בדקנו בייסליין "טיפש" והוא ניצח אותנו:  </a:t>
            </a:r>
            <a:r>
              <a:rPr b="0" i="0" lang="en-US" sz="13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"היישוב יצביע כמו בפעם הקודמת </a:t>
            </a:r>
            <a:endParaRPr b="0" i="0" sz="1350" u="none" cap="none" strike="noStrike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מדויק יותר מכל מודל.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532120" y="4800600"/>
            <a:ext cx="6080760" cy="1371600"/>
          </a:xfrm>
          <a:prstGeom prst="roundRect">
            <a:avLst>
              <a:gd fmla="val 5333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715000" y="4855464"/>
            <a:ext cx="57150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הטענה של הפרויקט:</a:t>
            </a:r>
            <a:br>
              <a:rPr b="1" i="0" lang="en-US" sz="14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הדמוגרפיה מסבירה את המבנה של המפה (R² 0.92); את התנודות מניעה הפוליטיקה. רצפת הרעש 3.99 נק' בין שתי מערכות 2019 אומרת שאנחנו קרובים לגבול של מה שאפשר להסביר עם הדאטה הזה.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MAE על הטסט (כנסת 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83080"/>
            <a:ext cx="45720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40080" y="544068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בייסליינים נוספים (שלב הבחירה): רגרסיה לינארית 11.7 · רשת נוירונים 6.7. ההצבעה היישובית כמעט קפואה (מתאם 0.93–0.98 בין מערכות)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548640" y="201168"/>
            <a:ext cx="11091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תצוגת תוצר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51206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ככה זה נראה, יישוב-יישוב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תחזיות אמת מקובץ הטסט (כנסת 25):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309360" y="1874520"/>
            <a:ext cx="5303520" cy="1005840"/>
          </a:xfrm>
          <a:prstGeom prst="roundRect">
            <a:avLst>
              <a:gd fmla="val 727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492240" y="19659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תל אביב-יפו  ·  מרכז-שמאל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92240" y="23774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בפועל 68%   ←   חזוי 67%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309360" y="3017520"/>
            <a:ext cx="5303520" cy="1005840"/>
          </a:xfrm>
          <a:prstGeom prst="roundRect">
            <a:avLst>
              <a:gd fmla="val 727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492240" y="31089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ירושלים  ·  ימין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92240" y="35204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בפועל 36%   ←   חזוי 38%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309360" y="4160520"/>
            <a:ext cx="5303520" cy="1005840"/>
          </a:xfrm>
          <a:prstGeom prst="roundRect">
            <a:avLst>
              <a:gd fmla="val 727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92240" y="42519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חולון  ·  ימין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92240" y="46634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בפועל 46%   ←   חזוי 50%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309360" y="5440680"/>
            <a:ext cx="5303520" cy="777240"/>
          </a:xfrm>
          <a:prstGeom prst="roundRect">
            <a:avLst>
              <a:gd fmla="val 9412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492240" y="54406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A2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3A24"/>
                </a:solidFill>
                <a:latin typeface="Calibri"/>
                <a:ea typeface="Calibri"/>
                <a:cs typeface="Calibri"/>
                <a:sym typeface="Calibri"/>
              </a:rPr>
              <a:t>ושימו לב מי לא על הקו — אליהם נחזור: גלאי החריגות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user/.claude/Bar_Ilan_Course_Projects/Mid-term-Project/Mid-term/election-bloc-prediction/reports/figures/actual_vs_predicted_Arab_pct.png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71600"/>
            <a:ext cx="5394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640080" y="57150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בפועל מול חזוי — הגוש הערבי, R² = 0.98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548640" y="201168"/>
            <a:ext cx="11091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יתרונות אתגרים ומגבלות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48640" y="51206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due diligence קליל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806440" y="1371600"/>
            <a:ext cx="5806440" cy="1234440"/>
          </a:xfrm>
          <a:prstGeom prst="roundRect">
            <a:avLst>
              <a:gd fmla="val 5926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11155680" y="1499616"/>
            <a:ext cx="384048" cy="38404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1155680" y="1481328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989320" y="1435608"/>
            <a:ext cx="5029200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4325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●"/>
            </a:pPr>
            <a:r>
              <a:rPr b="1" i="0" lang="en-US" sz="135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מבינים את הפלט XAI - </a:t>
            </a: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אנחנו יודעים את ההשפעה של כל פיצ'ר על התחזיות.</a:t>
            </a:r>
            <a:endParaRPr b="0" i="0" sz="1250" u="none" cap="none" strike="noStrike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Char char="●"/>
            </a:pPr>
            <a:r>
              <a:rPr b="1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עמיד Robust - </a:t>
            </a: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עמיד לחוסרים, אילוץ 100% מובנה</a:t>
            </a:r>
            <a:endParaRPr b="0" i="0" sz="1250" u="none" cap="none" strike="noStrike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Char char="●"/>
            </a:pPr>
            <a:r>
              <a:rPr b="1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י</a:t>
            </a:r>
            <a:r>
              <a:rPr b="1" i="0" lang="en-US" sz="135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עבוד על יישוב שלא ראה - </a:t>
            </a: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הוצאנו 45 יישובים (20%) מהאימון לגמרי ← MAE 5.81 / R² 0.88 — לומד מבנה, לא זהות</a:t>
            </a:r>
            <a:endParaRPr b="1" i="0" sz="1350" u="none" cap="none" strike="noStrike">
              <a:solidFill>
                <a:srgbClr val="122C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806440" y="2743200"/>
            <a:ext cx="5806440" cy="1234440"/>
          </a:xfrm>
          <a:prstGeom prst="roundRect">
            <a:avLst>
              <a:gd fmla="val 5926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1155680" y="2871216"/>
            <a:ext cx="384048" cy="38404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1155680" y="2852928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989320" y="2807208"/>
            <a:ext cx="5029200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4325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מדויק יותר בערים (2.80) אבל פחות במושבים ויישובים דרוזיים(10.7).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ניסוי-דלתא: חיזוי התנודות מדמוגרפיה נכשל כצפוי (R² שלילי) - התנודות שייכות לפוליטיקה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806440" y="4114800"/>
            <a:ext cx="5806440" cy="1234440"/>
          </a:xfrm>
          <a:prstGeom prst="roundRect">
            <a:avLst>
              <a:gd fmla="val 5926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1155680" y="4242816"/>
            <a:ext cx="384048" cy="38404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1155680" y="4224528"/>
            <a:ext cx="384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989320" y="4178808"/>
            <a:ext cx="5029200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7975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יישובים גדולים בלבד - מגבלת דאטה</a:t>
            </a:r>
            <a:endParaRPr b="0" i="0" sz="1250" u="none" cap="none" strike="noStrike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מתייחס למשתנים דמוגרפיים בלבד</a:t>
            </a:r>
            <a:endParaRPr b="0" i="0" sz="1250" u="none" cap="none" strike="noStrike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הגבול בין ימין ושמאל-מרכז הוא הקריטי ביותר אך גם הקשה ביותר לניבוי</a:t>
            </a:r>
            <a:endParaRPr b="0" i="0" sz="1250" u="none" cap="none" strike="noStrike">
              <a:solidFill>
                <a:srgbClr val="1F2A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user/.claude/Bar_Ilan_Course_Projects/Mid-term-Project/Mid-term/election-bloc-prediction/reports/figures/permutation_importance_top15.png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75" y="1024750"/>
            <a:ext cx="5494474" cy="40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/>
          <p:nvPr/>
        </p:nvSpPr>
        <p:spPr>
          <a:xfrm>
            <a:off x="594360" y="5212080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ומה מניע את התחזיות: השכלה אקדמית, ג'יני 2019, משפחות גדולות (השכר הממוצע כמעט לא — הפיזור מנצח את הרמה)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94360" y="5943600"/>
            <a:ext cx="11018520" cy="658368"/>
          </a:xfrm>
          <a:prstGeom prst="roundRect">
            <a:avLst>
              <a:gd fmla="val 11111" name="adj"/>
            </a:avLst>
          </a:prstGeom>
          <a:solidFill>
            <a:srgbClr val="FFF6E8"/>
          </a:solidFill>
          <a:ln cap="flat" cmpd="sng" w="12700">
            <a:solidFill>
              <a:srgbClr val="C26B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822960" y="5943600"/>
            <a:ext cx="10561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2C0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A2C05"/>
                </a:solidFill>
                <a:latin typeface="Calibri"/>
                <a:ea typeface="Calibri"/>
                <a:cs typeface="Calibri"/>
                <a:sym typeface="Calibri"/>
              </a:rPr>
              <a:t>וביושר: דרוזים ומושבים קשים (MAE ~10.7) — הם באמת הקבוצות התנודתיות ביותר; תכונת מציאות, לא חולשת מודל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7094475" y="1129800"/>
            <a:ext cx="19839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יתרונות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7094475" y="2553713"/>
            <a:ext cx="19839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אתגרים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7094475" y="3913613"/>
            <a:ext cx="19839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מגבלות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548640" y="201168"/>
            <a:ext cx="11091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הצעד הבא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548640" y="51206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C5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כל כיוון נובע מממצא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400800" y="150876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6583680" y="1581912"/>
            <a:ext cx="48463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הממצא:</a:t>
            </a:r>
            <a:br>
              <a:rPr b="1" i="0" lang="en-US" sz="120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הוכחנו הכללה ליישובים לא-מוכרים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806440" y="18928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94360" y="150876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777240" y="1581912"/>
            <a:ext cx="48463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8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8A4C"/>
                </a:solidFill>
                <a:latin typeface="Calibri"/>
                <a:ea typeface="Calibri"/>
                <a:cs typeface="Calibri"/>
                <a:sym typeface="Calibri"/>
              </a:rPr>
              <a:t>הכיוון:</a:t>
            </a:r>
            <a:br>
              <a:rPr b="1" i="0" lang="en-US" sz="1200" u="none" cap="none" strike="noStrike">
                <a:solidFill>
                  <a:srgbClr val="178A4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123A24"/>
                </a:solidFill>
                <a:latin typeface="Calibri"/>
                <a:ea typeface="Calibri"/>
                <a:cs typeface="Calibri"/>
                <a:sym typeface="Calibri"/>
              </a:rPr>
              <a:t>תחזית cold-start לבחירות הבאות: אימון על כל 5 המערכות + נתוני למ"ס עדכניים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400800" y="310896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583680" y="3182112"/>
            <a:ext cx="48463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הממצא:</a:t>
            </a:r>
            <a:br>
              <a:rPr b="1" i="0" lang="en-US" sz="120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השארית הדמוגרפית = גלאי מובנה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806440" y="34930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94360" y="310896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777240" y="3182112"/>
            <a:ext cx="48463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8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8A4C"/>
                </a:solidFill>
                <a:latin typeface="Calibri"/>
                <a:ea typeface="Calibri"/>
                <a:cs typeface="Calibri"/>
                <a:sym typeface="Calibri"/>
              </a:rPr>
              <a:t>הכיוון:</a:t>
            </a:r>
            <a:br>
              <a:rPr b="1" i="0" lang="en-US" sz="1200" u="none" cap="none" strike="noStrike">
                <a:solidFill>
                  <a:srgbClr val="178A4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123A24"/>
                </a:solidFill>
                <a:latin typeface="Calibri"/>
                <a:ea typeface="Calibri"/>
                <a:cs typeface="Calibri"/>
                <a:sym typeface="Calibri"/>
              </a:rPr>
              <a:t>מוצר "ישובים חריגים": דירוג מי מצביע נגד הפרופיל שלו, לאיזה כיוון ובכמה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400800" y="470916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F4F7FB"/>
          </a:solidFill>
          <a:ln cap="flat" cmpd="sng" w="12700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583680" y="4782312"/>
            <a:ext cx="48463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1606F"/>
                </a:solidFill>
                <a:latin typeface="Calibri"/>
                <a:ea typeface="Calibri"/>
                <a:cs typeface="Calibri"/>
                <a:sym typeface="Calibri"/>
              </a:rPr>
              <a:t>הממצא:</a:t>
            </a:r>
            <a:endParaRPr b="1" i="0" sz="1400" u="none" cap="none" strike="noStrike">
              <a:solidFill>
                <a:srgbClr val="122C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606F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122C56"/>
                </a:solidFill>
                <a:latin typeface="Calibri"/>
                <a:ea typeface="Calibri"/>
                <a:cs typeface="Calibri"/>
                <a:sym typeface="Calibri"/>
              </a:rPr>
              <a:t>ניסוי-הדלתא: התנודות לא דמוגרפיות</a:t>
            </a:r>
            <a:endParaRPr b="1" i="0" sz="1400" u="none" cap="none" strike="noStrike">
              <a:solidFill>
                <a:srgbClr val="122C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806440" y="50932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594360" y="4709160"/>
            <a:ext cx="5212080" cy="1371600"/>
          </a:xfrm>
          <a:prstGeom prst="roundRect">
            <a:avLst>
              <a:gd fmla="val 5333" name="adj"/>
            </a:avLst>
          </a:prstGeom>
          <a:solidFill>
            <a:srgbClr val="EEFAF1"/>
          </a:solidFill>
          <a:ln cap="flat" cmpd="sng" w="12700">
            <a:solidFill>
              <a:srgbClr val="17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77240" y="4782312"/>
            <a:ext cx="48463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8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8A4C"/>
                </a:solidFill>
                <a:latin typeface="Calibri"/>
                <a:ea typeface="Calibri"/>
                <a:cs typeface="Calibri"/>
                <a:sym typeface="Calibri"/>
              </a:rPr>
              <a:t>הכיוון:</a:t>
            </a:r>
            <a:endParaRPr b="0" i="0" sz="1350" u="none" cap="none" strike="noStrike">
              <a:solidFill>
                <a:srgbClr val="123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8A4C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123A24"/>
                </a:solidFill>
                <a:latin typeface="Calibri"/>
                <a:ea typeface="Calibri"/>
                <a:cs typeface="Calibri"/>
                <a:sym typeface="Calibri"/>
              </a:rPr>
              <a:t>מודל-תנודות דו-שלבי: מקבל את קו-הבסיס הדמוגרפי שלנו וחוזה את הסטייה ממנו עם משתנים ביטחוניים, כלכליים ופוליטיים</a:t>
            </a:r>
            <a:endParaRPr b="0" i="0" sz="1350" u="none" cap="none" strike="noStrike">
              <a:solidFill>
                <a:srgbClr val="123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C56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סיכום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731520" y="914400"/>
            <a:ext cx="107259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מדדנו את גבולות ההסבר הדמוגרפי.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280160" y="1737360"/>
            <a:ext cx="96286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בנינו צינור מקצה-לקצה שקובע את קו הבסיס הדמוגרפי של ההצבעה (</a:t>
            </a:r>
            <a:r>
              <a:rPr b="0" i="0" lang="en-US" sz="125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 R² 0.92 </a:t>
            </a:r>
            <a:r>
              <a:rPr b="0" i="0" lang="en-US" sz="200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ואת הסטייה ממנו קובעת הפוליטיקה. את שני הצדדים מדדנו באותו טסט.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7973568" y="3154680"/>
            <a:ext cx="3529584" cy="2011680"/>
          </a:xfrm>
          <a:prstGeom prst="roundRect">
            <a:avLst>
              <a:gd fmla="val 4545" name="adj"/>
            </a:avLst>
          </a:prstGeom>
          <a:solidFill>
            <a:srgbClr val="1B3A6B"/>
          </a:solidFill>
          <a:ln cap="flat" cmpd="sng" w="12700">
            <a:solidFill>
              <a:srgbClr val="3D5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8138160" y="3337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תשובה מדעית עם מספר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8138160" y="3840480"/>
            <a:ext cx="3200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כמה מהמפה זה "מי גר שם"? רוב המבנה: R² 0.92 (ובתוך המגזרים: לא-ערבי 0.87 / ערבי 0.54)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261104" y="3154680"/>
            <a:ext cx="3529584" cy="2011680"/>
          </a:xfrm>
          <a:prstGeom prst="roundRect">
            <a:avLst>
              <a:gd fmla="val 4545" name="adj"/>
            </a:avLst>
          </a:prstGeom>
          <a:solidFill>
            <a:srgbClr val="1B3A6B"/>
          </a:solidFill>
          <a:ln cap="flat" cmpd="sng" w="12700">
            <a:solidFill>
              <a:srgbClr val="3D5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4425696" y="3337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חיזוי בלי היסטוריה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425696" y="3840480"/>
            <a:ext cx="3200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יישוב חדש? לפרסיסטנס אין מה להגיד. לנו יש — ומדדנו: R² 0.88 על יישובים שלא נראו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48640" y="3154680"/>
            <a:ext cx="3529584" cy="2011680"/>
          </a:xfrm>
          <a:prstGeom prst="roundRect">
            <a:avLst>
              <a:gd fmla="val 4545" name="adj"/>
            </a:avLst>
          </a:prstGeom>
          <a:solidFill>
            <a:srgbClr val="1B3A6B"/>
          </a:solidFill>
          <a:ln cap="flat" cmpd="sng" w="12700">
            <a:solidFill>
              <a:srgbClr val="3D5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713232" y="3337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גלאי חריגות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713232" y="3840480"/>
            <a:ext cx="3200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6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8D6EE"/>
                </a:solidFill>
                <a:latin typeface="Calibri"/>
                <a:ea typeface="Calibri"/>
                <a:cs typeface="Calibri"/>
                <a:sym typeface="Calibri"/>
              </a:rPr>
              <a:t>היישובים שמצביעים נגד הפרופיל שלהם — מושג שלפרסיסטנס אין בכלל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2743200" y="5669280"/>
            <a:ext cx="6702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יפעת דוידסון   ·   רועי בודינצקי   ·   יובל רובנצ'וק        תודה!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